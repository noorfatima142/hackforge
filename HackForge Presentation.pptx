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</ns0:sldIdLst>
  <ns0:sldSz cx="12192000" cy="6858000" type="screen4x3"/>
  <ns0:notesSz cx="6858000" cy="9144000"/>
  <ns0:embeddedFontLst>
    <ns0:embeddedFont>
      <ns0:font typeface="JetBrains Mono"/>
      <ns0:bold ns1:id="rIdFont14"/>
      <ns0:regular ns1:id="rIdFont15"/>
    </ns0:embeddedFont>
    <ns0:embeddedFont>
      <ns0:font typeface="Inter"/>
      <ns0:bold ns1:id="rIdFont16"/>
      <ns0:regular ns1:id="rIdFont17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Font14" Type="http://schemas.openxmlformats.org/officeDocument/2006/relationships/font" Target="fonts/be201d29-2f7b-4a4a-ba25-c4e971bd1338.fntdata" /><ns0:Relationship Id="rIdFont15" Type="http://schemas.openxmlformats.org/officeDocument/2006/relationships/font" Target="fonts/9a0f1316-b0e3-4253-90a4-a46ea02cd525.fntdata" /><ns0:Relationship Id="rIdFont16" Type="http://schemas.openxmlformats.org/officeDocument/2006/relationships/font" Target="fonts/4b15a28d-410e-46f4-8050-8ece27a5a1b1.fntdata" /><ns0:Relationship Id="rIdFont17" Type="http://schemas.openxmlformats.org/officeDocument/2006/relationships/font" Target="fonts/bc500a26-aee7-4c25-a42a-fb3a80008352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638800"/>
            <a:ext cx="10972800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638800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3214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JetBrains Mono"/>
              </a:rPr>
              <a:t>DATA SCIENCE HACKATHON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0" y="609600"/>
            <a:ext cx="2571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JetBrains Mono"/>
              </a:rPr>
              <a:t>TRACK: AIR QUALITY &amp; 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267991"/>
            <a:ext cx="9101137" cy="1340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b="1" sz="4800" i="0" u="none">
                <a:solidFill>
                  <a:srgbClr val="F8FAFC"/>
                </a:solidFill>
                <a:latin typeface="Inter"/>
              </a:rPr>
              <a:t>HackForge: Automated Air Quality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837533"/>
            <a:ext cx="10715625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Grounded RAG Insights &amp; Real-Time Environmental Decision Pipeline for Pakistan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876925"/>
            <a:ext cx="178593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Inter"/>
              </a:rPr>
              <a:t>LOCATION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057900"/>
            <a:ext cx="1785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Inter"/>
              </a:rPr>
              <a:t>Lahore &amp; Islamabad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19350" y="5876925"/>
            <a:ext cx="3178968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Inter"/>
              </a:rPr>
              <a:t>CORE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19350" y="6057900"/>
            <a:ext cx="31789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Inter"/>
              </a:rPr>
              <a:t>Prefect, ChromaDB, DuckDB, Groq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3525" y="5876925"/>
            <a:ext cx="13144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Inter"/>
              </a:rPr>
              <a:t>PIPELINE 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3525" y="6057900"/>
            <a:ext cx="13144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v1.0-final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62275"/>
            <a:ext cx="3505200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62275"/>
            <a:ext cx="3505200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62275"/>
            <a:ext cx="3505200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276600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276600"/>
            <a:ext cx="3810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276600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Critical Gaps in Pakistan's Environmental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771900"/>
            <a:ext cx="37754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Unreliable Raw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114800"/>
            <a:ext cx="29718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Frequent missing sensor streams and uncalibrated readings.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771900"/>
            <a:ext cx="37754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AI Hallucinations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4114800"/>
            <a:ext cx="29718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Standard LLMs output unverified health and safety claims.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771900"/>
            <a:ext cx="37754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Severe Health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4114800"/>
            <a:ext cx="29718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Citizens lack grounded guidance during hazardous PM2.5 spikes.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Model Performance vs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9175" y="2843212"/>
            <a:ext cx="3167062" cy="106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b="1" sz="8400" i="0" u="none">
                <a:solidFill>
                  <a:srgbClr val="0284C7"/>
                </a:solidFill>
                <a:latin typeface="Inter"/>
              </a:rPr>
              <a:t>34%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09987" y="4062412"/>
            <a:ext cx="596503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RMSE Reduction Over Persistence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52675" y="4414837"/>
            <a:ext cx="9358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Evaluated across high-variance urban core data (Lahore: 14.2 RMSE | Islamabad: 8.6 RMSE)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19800" y="2808237"/>
            <a:ext cx="5562600" cy="2213074"/>
          </a:xfrm>
          <a:prstGeom prst="roundRect">
            <a:avLst>
              <a:gd name="adj" fmla="val 516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24150"/>
            <a:ext cx="476250" cy="314325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590925"/>
            <a:ext cx="533400" cy="314325"/>
          </a:xfrm>
          <a:prstGeom prst="roundRect">
            <a:avLst>
              <a:gd name="adj" fmla="val 1818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467225"/>
            <a:ext cx="609600" cy="314325"/>
          </a:xfrm>
          <a:prstGeom prst="roundRect">
            <a:avLst>
              <a:gd name="adj" fmla="val 18181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AUTOMATED DATA HYGIENE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8105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Data Quality Agent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600" y="3113037"/>
            <a:ext cx="5867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JetBrains Mono"/>
              </a:rPr>
              <a:t>// Quality Decision 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0" y="3436887"/>
            <a:ext cx="5048250" cy="1279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CBD5E1"/>
                </a:solidFill>
                <a:latin typeface="JetBrains Mono"/>
              </a:rPr>
              <a:t>[2026-10-21 16:00:00]</a:t>
            </a:r>
            <a:r>
              <a:t>
</a:t>
            </a:r>
            <a:r>
              <a:rPr b="0" sz="1050" i="0" u="none">
                <a:solidFill>
                  <a:srgbClr val="4ADE80"/>
                </a:solidFill>
                <a:latin typeface="JetBrains Mono"/>
              </a:rPr>
              <a:t>✓</a:t>
            </a:r>
            <a:r>
              <a:rPr b="0" sz="1050" i="0" u="none">
                <a:solidFill>
                  <a:srgbClr val="CBD5E1"/>
                </a:solidFill>
                <a:latin typeface="JetBrains Mono"/>
              </a:rPr>
              <a:t> Ingested: raw_lhr_central.csv</a:t>
            </a:r>
            <a:r>
              <a:t>
</a:t>
            </a:r>
            <a:r>
              <a:rPr b="0" sz="1050" i="0" u="none">
                <a:solidFill>
                  <a:srgbClr val="FBBF24"/>
                </a:solidFill>
                <a:latin typeface="JetBrains Mono"/>
              </a:rPr>
              <a:t>!</a:t>
            </a:r>
            <a:r>
              <a:rPr b="0" sz="1050" i="0" u="none">
                <a:solidFill>
                  <a:srgbClr val="CBD5E1"/>
                </a:solidFill>
                <a:latin typeface="JetBrains Mono"/>
              </a:rPr>
              <a:t> Warning: 1 missing PM2.5 frame</a:t>
            </a:r>
            <a:r>
              <a:t>
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→</a:t>
            </a:r>
            <a:r>
              <a:rPr b="0" sz="1050" i="0" u="none">
                <a:solidFill>
                  <a:srgbClr val="CBD5E1"/>
                </a:solidFill>
                <a:latin typeface="JetBrains Mono"/>
              </a:rPr>
              <a:t> Executed FILL: Row ID #4092</a:t>
            </a:r>
            <a:r>
              <a:t>
</a:t>
            </a:r>
            <a:r>
              <a:rPr b="0" sz="1050" i="0" u="none">
                <a:solidFill>
                  <a:srgbClr val="4ADE80"/>
                </a:solidFill>
                <a:latin typeface="JetBrains Mono"/>
              </a:rPr>
              <a:t>✓</a:t>
            </a:r>
            <a:r>
              <a:rPr b="0" sz="1050" i="0" u="none">
                <a:solidFill>
                  <a:srgbClr val="CBD5E1"/>
                </a:solidFill>
                <a:latin typeface="JetBrains Mono"/>
              </a:rPr>
              <a:t> Manifest Hash: sha256_e89a...</a:t>
            </a:r>
            <a:r>
              <a:t>
</a:t>
            </a:r>
            <a:r>
              <a:rPr b="0" sz="1050" i="0" u="none">
                <a:solidFill>
                  <a:srgbClr val="4ADE80"/>
                </a:solidFill>
                <a:latin typeface="JetBrains Mono"/>
              </a:rPr>
              <a:t>✓</a:t>
            </a:r>
            <a:r>
              <a:rPr b="0" sz="1050" i="0" u="none">
                <a:solidFill>
                  <a:srgbClr val="CBD5E1"/>
                </a:solidFill>
                <a:latin typeface="JetBrains Mono"/>
              </a:rPr>
              <a:t> Gold Table Updated: DuckDB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2800350"/>
            <a:ext cx="3048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3667125"/>
            <a:ext cx="3619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FILL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4543425"/>
            <a:ext cx="4381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Inter"/>
              </a:rPr>
              <a:t>FLAG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8250" y="2724150"/>
            <a:ext cx="56757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Schema 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8250" y="2962275"/>
            <a:ext cx="44196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Standardizes timezone shifts (UTC to PKT) and data types.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5400" y="3590925"/>
            <a:ext cx="56007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Linear Interpolation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400" y="3829050"/>
            <a:ext cx="4362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Safely fills short gaps (≤ 2 hrs) with explicit metadata tags.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467225"/>
            <a:ext cx="5500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Anomaly Escalation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705350"/>
            <a:ext cx="4286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Surfaces abnormal sensor spikes without altering historical logs.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24200"/>
            <a:ext cx="2600325" cy="1657350"/>
          </a:xfrm>
          <a:prstGeom prst="roundRect">
            <a:avLst>
              <a:gd name="adj" fmla="val 68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124200"/>
            <a:ext cx="2600325" cy="1657350"/>
          </a:xfrm>
          <a:prstGeom prst="roundRect">
            <a:avLst>
              <a:gd name="adj" fmla="val 68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124200"/>
            <a:ext cx="2600325" cy="1657350"/>
          </a:xfrm>
          <a:prstGeom prst="roundRect">
            <a:avLst>
              <a:gd name="adj" fmla="val 68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224212"/>
            <a:ext cx="2600325" cy="145732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8105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End-to-End Execution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352800"/>
            <a:ext cx="2238375" cy="1200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STEP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29025" y="3352800"/>
            <a:ext cx="2238375" cy="1200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STEP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850" y="3352800"/>
            <a:ext cx="2238375" cy="1200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STEP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10675" y="3452812"/>
            <a:ext cx="2238375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STEP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667125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Data Ingestion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943350"/>
            <a:ext cx="22193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Automated OpenAQ &amp; sensor API fetch into raw layer.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667125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Quality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3943350"/>
            <a:ext cx="22193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Executes schema checks, fills, and manifest hashing.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3667125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ChromaDB 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3943350"/>
            <a:ext cx="22193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Embeds gold tables for semantic retrieval and context.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0200" y="3767137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Streamlit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0" y="4043362"/>
            <a:ext cx="22193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Serves cited answers in English and natural Urdu.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72779"/>
            <a:ext cx="5343525" cy="2883991"/>
          </a:xfrm>
          <a:prstGeom prst="roundRect">
            <a:avLst>
              <a:gd name="adj" fmla="val 39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57925" y="2828925"/>
            <a:ext cx="5324475" cy="2171700"/>
          </a:xfrm>
          <a:prstGeom prst="roundRect">
            <a:avLst>
              <a:gd name="adj" fmla="val 526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62725" y="4381500"/>
            <a:ext cx="4714875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62725" y="4381500"/>
            <a:ext cx="47148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ZERO-HALLUCINATION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8105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Strict Evidence Citation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2787104"/>
            <a:ext cx="618827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Core Citation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133725"/>
            <a:ext cx="56292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JetBrains Mono"/>
              </a:rPr>
              <a:t>Sample Output: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3419475"/>
            <a:ext cx="481012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E2E8F0"/>
                </a:solidFill>
                <a:latin typeface="Inter"/>
              </a:rPr>
              <a:t>"The PM2.5 level in Lahore is projected at 184 µg/m³ for tomorrow morning. Outdoor morning exercise is not recommended."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175" y="3167151"/>
            <a:ext cx="952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4425" y="3168104"/>
            <a:ext cx="4619625" cy="54858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Row ID Tagging: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Every metric response cites exact database row IDs.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175" y="3830032"/>
            <a:ext cx="952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4425" y="3830984"/>
            <a:ext cx="4619625" cy="54858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Fallback Guarantee: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Returns explicit "I don't know" if context is missing.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175" y="4492912"/>
            <a:ext cx="952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4425" y="4493865"/>
            <a:ext cx="4619625" cy="54858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Bilingual Support: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Full query capability for English and Urdu users.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4543425"/>
            <a:ext cx="158353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JetBrains Mono"/>
              </a:rPr>
              <a:t>Source: [Doc #8402]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0750" y="4543425"/>
            <a:ext cx="18335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JetBrains Mono"/>
              </a:rPr>
              <a:t>Row ID: LHR-2026-10-21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038600" y="4224337"/>
            <a:ext cx="2057400" cy="47625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4224337"/>
            <a:ext cx="1828800" cy="47625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05375" y="2157412"/>
            <a:ext cx="2381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JetBrains Mono"/>
              </a:rPr>
              <a:t>READY FOR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4133" y="2481262"/>
            <a:ext cx="9863732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Inter"/>
              </a:rPr>
              <a:t>HackForge v1.0 Final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8812" y="3271837"/>
            <a:ext cx="833437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All assets, repository tags, single-command warehouse builders, and bilingual RAG interfaces are fully prepared.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86225" y="4376737"/>
            <a:ext cx="19621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F8FAFC"/>
                </a:solidFill>
                <a:latin typeface="JetBrains Mono"/>
              </a:rPr>
              <a:t>Git Tag: </a:t>
            </a:r>
            <a:r>
              <a:rPr b="0" sz="1050" i="0" u="none">
                <a:solidFill>
                  <a:srgbClr val="38BDF8"/>
                </a:solidFill>
                <a:latin typeface="JetBrains Mono"/>
              </a:rPr>
              <a:t>v1.0-final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376737"/>
            <a:ext cx="16764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F8FAFC"/>
                </a:solidFill>
                <a:latin typeface="JetBrains Mono"/>
              </a:rPr>
              <a:t>Build: </a:t>
            </a:r>
            <a:r>
              <a:rPr b="0" sz="1050" i="0" u="none">
                <a:solidFill>
                  <a:srgbClr val="4ADE80"/>
                </a:solidFill>
                <a:latin typeface="JetBrains Mono"/>
              </a:rPr>
              <a:t>make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